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E15"/>
    <a:srgbClr val="7A0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6C47-BA02-F179-B5B9-FFE040A52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864A9-7A49-665C-0E63-26AFD3B27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8BA6D-E211-3A6C-96BF-00E17375B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E3CFC-86BE-A1C5-7289-64D3575D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6F3CF-302D-6EC3-1DDF-3C361DA33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86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2035-0341-ED34-5956-F45C7A2D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D7F7A-4E13-65EE-3BB0-438B846BC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4A0AC-C5E2-4AB8-DF45-6127DEE8A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09328-F02B-0B5A-7CE6-69A35AAF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C2170-AA99-8164-0CFB-F10B29C1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36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4968B-2F6D-4083-D797-D9FABA0C1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4F22-6E11-0800-A007-AA52CE967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65486-7875-B640-C96A-F52B45C8F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1FE52-0AB1-C343-B65D-59336D017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53F78-4A99-820C-0AF5-7BCDE391F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24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0228-2A57-5C39-B965-50D8FFCB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875B1-960A-BE28-BBC8-79ABE910C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A51FC-081A-7D0F-739C-660FDDE88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D2481-4FEE-58C0-12D1-DE578B59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59DB7-FA8E-54DC-18D2-9092EC2E5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B558D-4A30-B7E0-8DE0-FB63FA7D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42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6C530-7EA2-43C2-6E4E-FA2F81316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DC8A6-52DA-C70C-B170-0848076B7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D35BE-9B4F-78AC-D862-6B3E5D57B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6E98B-26EA-5A2A-B439-A14E283463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C17A-222F-F66E-4BDB-E66C6A39C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0C324F-226E-5DF2-A88D-BBF3F5B45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E2C0A-DC5D-93D9-5C70-81ADB90DE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744364-5719-DDE0-CB5C-74285454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602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33127-A887-B2F7-0B18-1309BEE8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DA9BD-503B-006E-450F-76B2C051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6CAF0-9E38-DA92-851A-B0ECF03B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C2818-7D22-4351-2F0F-6992463C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81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0845B-5C01-5FF6-97E9-50C67964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6F507-A502-4BAA-D1AC-E1A181D2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6D05B-1B19-403C-F1D6-ACED72DB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0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1AD0-A3DF-2658-F799-768AAC41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4C14A-A636-D1E2-E26F-69BEB0F9C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B0C1B-CE8C-85CE-DF6B-2F752CC5A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27371-0737-A161-E73E-0402C1B5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F266A-69E2-790F-1495-869FE54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530BD-EC48-258E-66CD-1037A439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81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7762-9CCC-CD2F-66FE-F973F4E3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31510-C52D-FFBC-E6B5-61DE3E5652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235AB-FBE9-6EDC-0774-A87427884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C5EAE-080E-0DDB-823F-6B9EC478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5723E-6977-8B76-8670-6844775E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3CF51-19C5-6A97-CE9C-B1E9D916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0124-5EF5-C9E4-8427-8E23F2FC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8432B-B152-CB87-812A-E23656C26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57266-CD36-6B69-6802-6D5C8768E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87085-50BE-7120-3E8B-E717EA72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BBB93-F63D-7906-7359-92AF696D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69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C60994-5AD4-B117-0537-BE8E72524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10C49-AC16-796A-DDE7-20CF2ECB9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744F8-D8AC-E373-0313-FE8469A2F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95192-6261-E679-49C2-A76A78F7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91F2D-FC39-5E16-D2D5-AD9C0330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75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8D5D1-0AF4-BACC-60A2-31211C3F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1A2EC-CBF9-6D59-8394-BBD8F57F3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9773A-101C-FBE7-72BB-2E2FFB068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72F93-3AAD-4EBC-8182-8955321F76E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68703-F181-2D88-E794-485E646B2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94345-2D9B-F6FF-2BAD-59BD92A45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3CDC4-17C0-4E6D-937F-5BC8DEDDD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796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826B31F-D62B-15FA-9116-59191097F34B}"/>
              </a:ext>
            </a:extLst>
          </p:cNvPr>
          <p:cNvSpPr txBox="1">
            <a:spLocks/>
          </p:cNvSpPr>
          <p:nvPr/>
        </p:nvSpPr>
        <p:spPr>
          <a:xfrm>
            <a:off x="1072945" y="973548"/>
            <a:ext cx="10046110" cy="4965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7A0D1F"/>
                </a:solidFill>
              </a:rPr>
              <a:t>DEPARTMENT OF MECHANICAL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B3BE6-0DB3-18C9-49D1-2BF1327A2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4" y="104141"/>
            <a:ext cx="1056746" cy="1187355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DDDAF1-4411-B33F-61F7-B33191CE38BD}"/>
              </a:ext>
            </a:extLst>
          </p:cNvPr>
          <p:cNvSpPr txBox="1"/>
          <p:nvPr/>
        </p:nvSpPr>
        <p:spPr>
          <a:xfrm>
            <a:off x="1174730" y="148324"/>
            <a:ext cx="9967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 Black" panose="020B0A04020102020204" pitchFamily="34" charset="0"/>
              </a:rPr>
              <a:t>ARJUN COLLEGE OF TECHNOLOGY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FFA2C74-7F2C-D88F-97C4-35B37136BE67}"/>
              </a:ext>
            </a:extLst>
          </p:cNvPr>
          <p:cNvSpPr txBox="1">
            <a:spLocks/>
          </p:cNvSpPr>
          <p:nvPr/>
        </p:nvSpPr>
        <p:spPr>
          <a:xfrm>
            <a:off x="1079717" y="1571086"/>
            <a:ext cx="10046110" cy="4965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02060"/>
                </a:solidFill>
              </a:rPr>
              <a:t>SMART INDIA HACKATHON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17531B-407C-1C7A-F022-F4F84B98A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864" y="191201"/>
            <a:ext cx="1552136" cy="1030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814DBE-BA71-197A-9636-9C970B78E3D5}"/>
              </a:ext>
            </a:extLst>
          </p:cNvPr>
          <p:cNvSpPr txBox="1"/>
          <p:nvPr/>
        </p:nvSpPr>
        <p:spPr>
          <a:xfrm>
            <a:off x="646357" y="3191209"/>
            <a:ext cx="51320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ANANDHAVELAN M</a:t>
            </a:r>
          </a:p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LINGAMMARISWARAN M</a:t>
            </a:r>
          </a:p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SUPRIYA P</a:t>
            </a:r>
          </a:p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VIJAYALAKSHMI R</a:t>
            </a:r>
          </a:p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LOKESHWARAN C</a:t>
            </a:r>
          </a:p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PRASANTH S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C9168875-851C-9AD0-E393-05F3C75C8F67}"/>
              </a:ext>
            </a:extLst>
          </p:cNvPr>
          <p:cNvSpPr txBox="1">
            <a:spLocks/>
          </p:cNvSpPr>
          <p:nvPr/>
        </p:nvSpPr>
        <p:spPr>
          <a:xfrm>
            <a:off x="646357" y="5884452"/>
            <a:ext cx="7464715" cy="65181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MENTOR: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NAVEENKUMAR, AP / MECH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067FE3-A862-AC99-566E-C990B16BF58A}"/>
              </a:ext>
            </a:extLst>
          </p:cNvPr>
          <p:cNvSpPr/>
          <p:nvPr/>
        </p:nvSpPr>
        <p:spPr>
          <a:xfrm>
            <a:off x="1901190" y="2196657"/>
            <a:ext cx="8389620" cy="894226"/>
          </a:xfrm>
          <a:prstGeom prst="roundRect">
            <a:avLst>
              <a:gd name="adj" fmla="val 4193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STAIRS CLIMBING 4 WHEELED TROLLEY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C8779A-3E8E-1082-D592-A5C9867F2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960" y="3429000"/>
            <a:ext cx="2315683" cy="28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B8695-BC62-BF3C-74F8-056CC3076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23" y="3708401"/>
            <a:ext cx="11153554" cy="3035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>
                <a:solidFill>
                  <a:srgbClr val="C00000"/>
                </a:solidFill>
              </a:rPr>
              <a:t>S. No.                                     : </a:t>
            </a:r>
            <a:r>
              <a:rPr lang="en-IN" sz="2600" b="1" dirty="0">
                <a:solidFill>
                  <a:srgbClr val="002060"/>
                </a:solidFill>
              </a:rPr>
              <a:t>116</a:t>
            </a:r>
          </a:p>
          <a:p>
            <a:pPr marL="0" indent="0">
              <a:buNone/>
            </a:pPr>
            <a:r>
              <a:rPr lang="en-IN" sz="2600" b="1" dirty="0">
                <a:solidFill>
                  <a:srgbClr val="C00000"/>
                </a:solidFill>
              </a:rPr>
              <a:t>Organization                        : </a:t>
            </a:r>
            <a:r>
              <a:rPr lang="en-IN" sz="2600" b="1" dirty="0">
                <a:solidFill>
                  <a:srgbClr val="002060"/>
                </a:solidFill>
              </a:rPr>
              <a:t>AICTE</a:t>
            </a:r>
          </a:p>
          <a:p>
            <a:pPr marL="0" indent="0">
              <a:buNone/>
            </a:pPr>
            <a:r>
              <a:rPr lang="en-IN" sz="2600" b="1" dirty="0">
                <a:solidFill>
                  <a:srgbClr val="C00000"/>
                </a:solidFill>
              </a:rPr>
              <a:t>Problem Statement Title   : </a:t>
            </a:r>
            <a:r>
              <a:rPr lang="en-IN" sz="2600" b="1" dirty="0">
                <a:solidFill>
                  <a:srgbClr val="002060"/>
                </a:solidFill>
              </a:rPr>
              <a:t>Student Innovation</a:t>
            </a:r>
          </a:p>
          <a:p>
            <a:pPr marL="0" indent="0">
              <a:buNone/>
            </a:pPr>
            <a:r>
              <a:rPr lang="en-IN" sz="2600" b="1" dirty="0">
                <a:solidFill>
                  <a:srgbClr val="C00000"/>
                </a:solidFill>
              </a:rPr>
              <a:t>Category                                : </a:t>
            </a:r>
            <a:r>
              <a:rPr lang="en-IN" sz="2600" b="1" dirty="0">
                <a:solidFill>
                  <a:srgbClr val="002060"/>
                </a:solidFill>
              </a:rPr>
              <a:t>Hardware</a:t>
            </a:r>
          </a:p>
          <a:p>
            <a:pPr marL="0" indent="0">
              <a:buNone/>
            </a:pPr>
            <a:r>
              <a:rPr lang="en-IN" sz="2600" b="1" dirty="0">
                <a:solidFill>
                  <a:srgbClr val="C00000"/>
                </a:solidFill>
              </a:rPr>
              <a:t>Submitted count                  : </a:t>
            </a:r>
            <a:r>
              <a:rPr lang="en-IN" sz="2600" b="1" dirty="0">
                <a:solidFill>
                  <a:srgbClr val="002060"/>
                </a:solidFill>
              </a:rPr>
              <a:t>0</a:t>
            </a:r>
          </a:p>
          <a:p>
            <a:pPr marL="0" indent="0">
              <a:buNone/>
            </a:pPr>
            <a:r>
              <a:rPr lang="en-IN" sz="2600" b="1" dirty="0">
                <a:solidFill>
                  <a:srgbClr val="C00000"/>
                </a:solidFill>
              </a:rPr>
              <a:t>Theme                                    : </a:t>
            </a:r>
            <a:r>
              <a:rPr lang="en-IN" sz="2600" b="1" dirty="0">
                <a:solidFill>
                  <a:srgbClr val="002060"/>
                </a:solidFill>
              </a:rPr>
              <a:t>Transportation &amp; Logistics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23917B-8933-A32E-A16E-33232D325D57}"/>
              </a:ext>
            </a:extLst>
          </p:cNvPr>
          <p:cNvSpPr/>
          <p:nvPr/>
        </p:nvSpPr>
        <p:spPr>
          <a:xfrm>
            <a:off x="1188720" y="114300"/>
            <a:ext cx="10176510" cy="93726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latin typeface="Algerian" panose="04020705040A02060702" pitchFamily="82" charset="0"/>
              </a:rPr>
              <a:t>SMART INDIA HACKATHON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0854EA-7280-44CB-9589-C089E9793B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691"/>
          <a:stretch>
            <a:fillRect/>
          </a:stretch>
        </p:blipFill>
        <p:spPr>
          <a:xfrm>
            <a:off x="0" y="1111898"/>
            <a:ext cx="12192000" cy="25539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D2BF5B4-6A75-83A2-D4DB-80DB7712090B}"/>
              </a:ext>
            </a:extLst>
          </p:cNvPr>
          <p:cNvSpPr/>
          <p:nvPr/>
        </p:nvSpPr>
        <p:spPr>
          <a:xfrm>
            <a:off x="754912" y="3264195"/>
            <a:ext cx="11344939" cy="3402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357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6EE0A-5166-52C3-2D46-09B1BD09A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572"/>
            <a:ext cx="10515600" cy="640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6A9EC-E7B4-C01C-BC3A-7724DEDF4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510"/>
            <a:ext cx="10740390" cy="537178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Material Handling Equipment plays a major role in everyday life, trolleys place a crucial role in domestic material handling situations.</a:t>
            </a:r>
          </a:p>
          <a:p>
            <a:pPr algn="just"/>
            <a:r>
              <a:rPr lang="en-US" dirty="0"/>
              <a:t>While handling materials from ground floor to higher floors, it is very difficult to carry.</a:t>
            </a:r>
          </a:p>
          <a:p>
            <a:pPr algn="just"/>
            <a:r>
              <a:rPr lang="en-US" dirty="0"/>
              <a:t>Hence Stairs climbing trolleys were introduced. But that too have some disadvantages.</a:t>
            </a:r>
          </a:p>
          <a:p>
            <a:pPr algn="just"/>
            <a:r>
              <a:rPr lang="en-US" dirty="0"/>
              <a:t>Carrying heavy loads and support for the loads also major concern in domestic usage.</a:t>
            </a:r>
          </a:p>
          <a:p>
            <a:pPr algn="just"/>
            <a:r>
              <a:rPr lang="en-US" dirty="0"/>
              <a:t>They usually carry less weight compared to standard flat-surface trolleys.</a:t>
            </a:r>
          </a:p>
          <a:p>
            <a:pPr algn="just"/>
            <a:r>
              <a:rPr lang="en-US" dirty="0"/>
              <a:t>Overloading can damage the mechanism or make it unsafe.</a:t>
            </a:r>
          </a:p>
          <a:p>
            <a:pPr algn="just"/>
            <a:r>
              <a:rPr lang="en-US" dirty="0"/>
              <a:t>Carrying complex shapes also is difficult in existing design.</a:t>
            </a:r>
          </a:p>
          <a:p>
            <a:pPr algn="just"/>
            <a:r>
              <a:rPr lang="en-IN" dirty="0"/>
              <a:t>There is possibilities of slip while climbing. </a:t>
            </a:r>
          </a:p>
        </p:txBody>
      </p:sp>
    </p:spTree>
    <p:extLst>
      <p:ext uri="{BB962C8B-B14F-4D97-AF65-F5344CB8AC3E}">
        <p14:creationId xmlns:p14="http://schemas.microsoft.com/office/powerpoint/2010/main" val="167827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B2725-AAD0-1D42-6393-58959FCE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496B9-430A-B3D7-AF9A-2E9189AD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THEME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8EAF21-3DC0-0D49-944D-B34712171FBD}"/>
              </a:ext>
            </a:extLst>
          </p:cNvPr>
          <p:cNvSpPr/>
          <p:nvPr/>
        </p:nvSpPr>
        <p:spPr>
          <a:xfrm>
            <a:off x="1201479" y="1603919"/>
            <a:ext cx="4189228" cy="109515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Climbing Stairs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309E6-8DDC-D1C6-EF3B-239A89BF2139}"/>
              </a:ext>
            </a:extLst>
          </p:cNvPr>
          <p:cNvSpPr/>
          <p:nvPr/>
        </p:nvSpPr>
        <p:spPr>
          <a:xfrm>
            <a:off x="265814" y="3246650"/>
            <a:ext cx="4189228" cy="109515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Heavy Loads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4694DA-C7CF-0CFF-ABD2-9851A1DD7227}"/>
              </a:ext>
            </a:extLst>
          </p:cNvPr>
          <p:cNvSpPr/>
          <p:nvPr/>
        </p:nvSpPr>
        <p:spPr>
          <a:xfrm>
            <a:off x="6570920" y="1570695"/>
            <a:ext cx="4189228" cy="109515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Avoid Slip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9F316E-57B5-60DC-C95C-E31C2AD71977}"/>
              </a:ext>
            </a:extLst>
          </p:cNvPr>
          <p:cNvSpPr/>
          <p:nvPr/>
        </p:nvSpPr>
        <p:spPr>
          <a:xfrm>
            <a:off x="7439249" y="3231543"/>
            <a:ext cx="4189228" cy="1095153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Carry complex loads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5BB209-7A40-8149-22D5-840185A87CA9}"/>
              </a:ext>
            </a:extLst>
          </p:cNvPr>
          <p:cNvSpPr/>
          <p:nvPr/>
        </p:nvSpPr>
        <p:spPr>
          <a:xfrm>
            <a:off x="1201479" y="4889381"/>
            <a:ext cx="4189228" cy="1095153"/>
          </a:xfrm>
          <a:prstGeom prst="roundRect">
            <a:avLst/>
          </a:prstGeom>
          <a:solidFill>
            <a:srgbClr val="F3CE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Balance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08D35F-10F8-E3C9-5318-95B639D1281B}"/>
              </a:ext>
            </a:extLst>
          </p:cNvPr>
          <p:cNvSpPr/>
          <p:nvPr/>
        </p:nvSpPr>
        <p:spPr>
          <a:xfrm>
            <a:off x="6570920" y="4937312"/>
            <a:ext cx="4189228" cy="109515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User friendly</a:t>
            </a:r>
          </a:p>
        </p:txBody>
      </p:sp>
    </p:spTree>
    <p:extLst>
      <p:ext uri="{BB962C8B-B14F-4D97-AF65-F5344CB8AC3E}">
        <p14:creationId xmlns:p14="http://schemas.microsoft.com/office/powerpoint/2010/main" val="74963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7A62-E16B-93BD-AA14-6F9DA8618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EA8E-049A-C24B-0B32-1604E6FD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35" y="184371"/>
            <a:ext cx="11929730" cy="114469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COMPARISON OF EXISTING DESIGN &amp;</a:t>
            </a:r>
            <a:b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</a:br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PROPOSED DESIGN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6C8FF0-B29E-173A-4FEA-EFFC8B9DA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839766"/>
              </p:ext>
            </p:extLst>
          </p:nvPr>
        </p:nvGraphicFramePr>
        <p:xfrm>
          <a:off x="467833" y="1329069"/>
          <a:ext cx="11429999" cy="50717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349525">
                  <a:extLst>
                    <a:ext uri="{9D8B030D-6E8A-4147-A177-3AD203B41FA5}">
                      <a16:colId xmlns:a16="http://schemas.microsoft.com/office/drawing/2014/main" val="2518961318"/>
                    </a:ext>
                  </a:extLst>
                </a:gridCol>
                <a:gridCol w="3986212">
                  <a:extLst>
                    <a:ext uri="{9D8B030D-6E8A-4147-A177-3AD203B41FA5}">
                      <a16:colId xmlns:a16="http://schemas.microsoft.com/office/drawing/2014/main" val="1839807111"/>
                    </a:ext>
                  </a:extLst>
                </a:gridCol>
                <a:gridCol w="4094262">
                  <a:extLst>
                    <a:ext uri="{9D8B030D-6E8A-4147-A177-3AD203B41FA5}">
                      <a16:colId xmlns:a16="http://schemas.microsoft.com/office/drawing/2014/main" val="2048476672"/>
                    </a:ext>
                  </a:extLst>
                </a:gridCol>
              </a:tblGrid>
              <a:tr h="66620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Parameters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Existing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Proposed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960313"/>
                  </a:ext>
                </a:extLst>
              </a:tr>
              <a:tr h="666201">
                <a:tc>
                  <a:txBody>
                    <a:bodyPr/>
                    <a:lstStyle/>
                    <a:p>
                      <a:r>
                        <a:rPr lang="en-IN" sz="2000" dirty="0"/>
                        <a:t>Load carrying Surface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Overhanging (bottom side)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Entire surface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614216"/>
                  </a:ext>
                </a:extLst>
              </a:tr>
              <a:tr h="666201">
                <a:tc>
                  <a:txBody>
                    <a:bodyPr/>
                    <a:lstStyle/>
                    <a:p>
                      <a:r>
                        <a:rPr lang="en-IN" sz="2000"/>
                        <a:t>Wheel thickness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20mm to 25mm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30mm to 40mm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293660"/>
                  </a:ext>
                </a:extLst>
              </a:tr>
              <a:tr h="666201">
                <a:tc>
                  <a:txBody>
                    <a:bodyPr/>
                    <a:lstStyle/>
                    <a:p>
                      <a:r>
                        <a:rPr lang="en-IN" sz="2000" dirty="0"/>
                        <a:t>Support for load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Front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Fully closed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970863"/>
                  </a:ext>
                </a:extLst>
              </a:tr>
              <a:tr h="890064">
                <a:tc>
                  <a:txBody>
                    <a:bodyPr/>
                    <a:lstStyle/>
                    <a:p>
                      <a:r>
                        <a:rPr lang="en-IN" sz="2000" dirty="0"/>
                        <a:t>Maximum load carrying 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150 kg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More than 220 kg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265702"/>
                  </a:ext>
                </a:extLst>
              </a:tr>
              <a:tr h="758432">
                <a:tc>
                  <a:txBody>
                    <a:bodyPr/>
                    <a:lstStyle/>
                    <a:p>
                      <a:r>
                        <a:rPr lang="en-IN" sz="2000" dirty="0"/>
                        <a:t>Shape of load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Blocks &amp; Cylindrical loads only</a:t>
                      </a:r>
                    </a:p>
                    <a:p>
                      <a:pPr algn="ctr"/>
                      <a:r>
                        <a:rPr lang="en-IN" sz="2000" dirty="0"/>
                        <a:t>(non slip loads)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Any shape can carry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396173"/>
                  </a:ext>
                </a:extLst>
              </a:tr>
              <a:tr h="758432">
                <a:tc>
                  <a:txBody>
                    <a:bodyPr/>
                    <a:lstStyle/>
                    <a:p>
                      <a:r>
                        <a:rPr lang="en-IN" sz="2000" dirty="0"/>
                        <a:t>Slipping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Possibilities of slipping while climbing upward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No slip occur while lifting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323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18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EF0A1-296F-5BE6-6097-A9780E2AC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1635-0AD7-23B8-4344-B6ED9004C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EXISTING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604E8-0E9D-990F-1894-A1F1F7AEBB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1" t="10033" b="2116"/>
          <a:stretch>
            <a:fillRect/>
          </a:stretch>
        </p:blipFill>
        <p:spPr>
          <a:xfrm>
            <a:off x="544023" y="1023915"/>
            <a:ext cx="11103953" cy="481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208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95A711-F108-2B10-CA9D-D2FE7BA73C4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40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PROPOSED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A67D5-4421-5FA5-7496-592EC45EF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21" y="1555676"/>
            <a:ext cx="5746528" cy="3746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6A20D29A-BC23-8EC9-E4EE-67D388FB4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908" y="3870066"/>
            <a:ext cx="2946400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3B0E9565-4660-B2C2-487C-7791656ED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6" y="1005840"/>
            <a:ext cx="3641725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4BB523-A2EC-4C95-EE23-C5B428330FA9}"/>
              </a:ext>
            </a:extLst>
          </p:cNvPr>
          <p:cNvSpPr txBox="1"/>
          <p:nvPr/>
        </p:nvSpPr>
        <p:spPr>
          <a:xfrm>
            <a:off x="1012475" y="5908100"/>
            <a:ext cx="5324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3D Modelling using CATIA</a:t>
            </a:r>
          </a:p>
        </p:txBody>
      </p:sp>
    </p:spTree>
    <p:extLst>
      <p:ext uri="{BB962C8B-B14F-4D97-AF65-F5344CB8AC3E}">
        <p14:creationId xmlns:p14="http://schemas.microsoft.com/office/powerpoint/2010/main" val="277996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998A0-1F90-5492-9394-0E2C27B1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25C2E-2E4E-5BE3-1472-525CCE47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FD2DF-D12B-39CC-E88E-17CA6DD6C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953" y="1184910"/>
            <a:ext cx="11174819" cy="5090160"/>
          </a:xfrm>
        </p:spPr>
        <p:txBody>
          <a:bodyPr/>
          <a:lstStyle/>
          <a:p>
            <a:pPr algn="just"/>
            <a:r>
              <a:rPr lang="en-IN" dirty="0"/>
              <a:t>Since the wheel can move in forward direction, slipping can be arrested through ratchet and pawl mechanism.</a:t>
            </a:r>
          </a:p>
          <a:p>
            <a:pPr algn="just"/>
            <a:r>
              <a:rPr lang="en-IN" dirty="0"/>
              <a:t>Mechanism can be manually unlocked, reverse direction also can be achieved whenever required. </a:t>
            </a:r>
          </a:p>
          <a:p>
            <a:pPr algn="just"/>
            <a:r>
              <a:rPr lang="en-IN" dirty="0"/>
              <a:t>Can lift heavier loads</a:t>
            </a:r>
          </a:p>
          <a:p>
            <a:pPr algn="just"/>
            <a:r>
              <a:rPr lang="en-IN" dirty="0"/>
              <a:t>Balancing of loads can be achieved</a:t>
            </a:r>
          </a:p>
          <a:p>
            <a:pPr algn="just"/>
            <a:r>
              <a:rPr lang="en-IN" dirty="0"/>
              <a:t>Loads with complex shape can be carried</a:t>
            </a:r>
          </a:p>
        </p:txBody>
      </p:sp>
    </p:spTree>
    <p:extLst>
      <p:ext uri="{BB962C8B-B14F-4D97-AF65-F5344CB8AC3E}">
        <p14:creationId xmlns:p14="http://schemas.microsoft.com/office/powerpoint/2010/main" val="3750243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3562-B818-1D9E-0CCB-82D8F5271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EC6E-7951-004C-CD18-2B4C03C4A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0D3BB-10D0-B034-A853-3F6C8B5D8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910"/>
            <a:ext cx="10515600" cy="5090160"/>
          </a:xfrm>
        </p:spPr>
        <p:txBody>
          <a:bodyPr/>
          <a:lstStyle/>
          <a:p>
            <a:r>
              <a:rPr lang="en-IN" dirty="0"/>
              <a:t>Construction field</a:t>
            </a:r>
          </a:p>
          <a:p>
            <a:r>
              <a:rPr lang="en-IN" dirty="0"/>
              <a:t>Manufacturing industries</a:t>
            </a:r>
          </a:p>
          <a:p>
            <a:r>
              <a:rPr lang="en-IN" dirty="0"/>
              <a:t>Malls</a:t>
            </a:r>
          </a:p>
          <a:p>
            <a:r>
              <a:rPr lang="en-IN" dirty="0"/>
              <a:t>Education institutions</a:t>
            </a:r>
          </a:p>
          <a:p>
            <a:r>
              <a:rPr lang="en-IN" dirty="0"/>
              <a:t>Hotels</a:t>
            </a:r>
          </a:p>
          <a:p>
            <a:r>
              <a:rPr lang="en-IN" dirty="0"/>
              <a:t>Transportation &amp; Logistics companies</a:t>
            </a:r>
          </a:p>
          <a:p>
            <a:r>
              <a:rPr lang="en-IN" dirty="0"/>
              <a:t>Warehousing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024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DA457-1988-7368-D74C-59AAFEB1B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C142E-C885-DBBA-AD03-510858A35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572"/>
            <a:ext cx="10515600" cy="640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6D23-3538-BCF3-50EC-540DC19B3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779" y="996392"/>
            <a:ext cx="10708758" cy="2169522"/>
          </a:xfrm>
        </p:spPr>
        <p:txBody>
          <a:bodyPr/>
          <a:lstStyle/>
          <a:p>
            <a:r>
              <a:rPr lang="en-IN" dirty="0"/>
              <a:t>Heavy loads can be easily lifted</a:t>
            </a:r>
          </a:p>
          <a:p>
            <a:r>
              <a:rPr lang="en-IN" dirty="0"/>
              <a:t>By using this trolley the human effort will get reduced</a:t>
            </a:r>
          </a:p>
          <a:p>
            <a:r>
              <a:rPr lang="en-IN" dirty="0"/>
              <a:t>Accidents can be eliminated</a:t>
            </a:r>
          </a:p>
          <a:p>
            <a:r>
              <a:rPr lang="en-IN" dirty="0"/>
              <a:t>Balancing of loads and easy material handling can be done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F92CE57-4AA9-C828-0C15-879E7D71710E}"/>
              </a:ext>
            </a:extLst>
          </p:cNvPr>
          <p:cNvSpPr txBox="1">
            <a:spLocks/>
          </p:cNvSpPr>
          <p:nvPr/>
        </p:nvSpPr>
        <p:spPr>
          <a:xfrm>
            <a:off x="838200" y="3242930"/>
            <a:ext cx="10515600" cy="640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FUTURE SCOPE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4A50FB-41B4-30FD-E258-6939BD84239B}"/>
              </a:ext>
            </a:extLst>
          </p:cNvPr>
          <p:cNvSpPr txBox="1">
            <a:spLocks/>
          </p:cNvSpPr>
          <p:nvPr/>
        </p:nvSpPr>
        <p:spPr>
          <a:xfrm>
            <a:off x="934779" y="3883645"/>
            <a:ext cx="10515600" cy="2355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By using IoT we can automate the trolley with the help of motors and other accessories</a:t>
            </a:r>
          </a:p>
          <a:p>
            <a:pPr algn="just"/>
            <a:r>
              <a:rPr lang="en-IN" dirty="0"/>
              <a:t>With the help of sensors and GPS systems we can locate the trolley</a:t>
            </a:r>
          </a:p>
          <a:p>
            <a:pPr algn="just"/>
            <a:r>
              <a:rPr lang="en-IN" dirty="0"/>
              <a:t>Implementation of automation can help industries for mass production</a:t>
            </a:r>
          </a:p>
        </p:txBody>
      </p:sp>
    </p:spTree>
    <p:extLst>
      <p:ext uri="{BB962C8B-B14F-4D97-AF65-F5344CB8AC3E}">
        <p14:creationId xmlns:p14="http://schemas.microsoft.com/office/powerpoint/2010/main" val="113457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414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Problem Statement</vt:lpstr>
      <vt:lpstr>THEME</vt:lpstr>
      <vt:lpstr>COMPARISON OF EXISTING DESIGN &amp; PROPOSED DESIGN</vt:lpstr>
      <vt:lpstr>EXISTING DESIGN</vt:lpstr>
      <vt:lpstr>PowerPoint Presentation</vt:lpstr>
      <vt:lpstr>ADVANTAGES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naveen naveen</dc:creator>
  <cp:lastModifiedBy>sp2307873@gmail.com</cp:lastModifiedBy>
  <cp:revision>2</cp:revision>
  <dcterms:created xsi:type="dcterms:W3CDTF">2025-09-18T11:09:33Z</dcterms:created>
  <dcterms:modified xsi:type="dcterms:W3CDTF">2025-09-24T03:48:29Z</dcterms:modified>
</cp:coreProperties>
</file>